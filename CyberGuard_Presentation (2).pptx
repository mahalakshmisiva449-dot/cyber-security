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yberGuard" id="{20741dd4-3719-fa07-da09-fb8b0c8674a7}">
          <p14:sldIdLst>
            <p14:sldId id="256"/>
            <p14:sldId id="257"/>
            <p14:sldId id="258"/>
            <p14:sldId id="2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CyberGuard: a web app that helps people stop phishing and online fraud before they click. The link on this slide is a real pattern: the company name sits in front, but the owner is the last two parts before the first single slash.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(1) Verizon 2026 DBIR, as summarised by Abnormal AI: the human element was involved in 62% of breaches. (2) APWG recorded about 3.8 million phishing attacks in 2025, slightly above 2024; wire-transfer business email compromise rose 136% in Q4 versus Q3 (Fortra). (3) I4C data reported by IANS in January 2026: roughly 21.8 lakh cheating complaints and about Rs 19,800 crore lost in 2025, after Rs 22,849 crore in 2024. (4) LocalCircles survey of 32,000+ UPI users in 365 districts: one in five households hit by fraud in three years; among victims, 40% tapped a payment link to receive money and were debited, 20% scanned a QR code, 20% shared an OTP or PIN with an impersonator, and 51% did not complain anywhere. Domain point: decoy subdomains (meridiancloud.com.account-verify.net) and lookalike characters (meridianc1oud.com) defeat quick visual checks, which is why the tool reads the real domain for the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analyzer reads the real domain first because decoy subdomains and lookalike letters are the tricks that defeat a quick glance. Signals are scored independently (link signals and wording signals) and added up, so no single signal decides. Thresholds: under 20 low, 20 to 49 suspicious, 50 and above likely phishing. The briefing and simulator feed the same four checks (sender, destination, pressure, the ask) so users get faster before they ever need the analyzer. Everything runs client-side, so pasted messages are never uploaded.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live site if possible. Simulator: seven fictional messages (SMS, email, UPI prize, boss gift-card request); after each answer the red flags are highlighted and the real link destination is shown. Analyzer: paste a link or message and get a 0 to 100 risk score, a plain-language verdict and the reasons. Screens are from the working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051560"/>
            <a:ext cx="5669280" cy="91440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457200" y="2011680"/>
            <a:ext cx="5852160" cy="457200"/>
          </a:xfrm>
          <a:prstGeom prst="rect">
            <a:avLst/>
          </a:prstGeom>
          <a:noFill/>
          <a:ln/>
        </p:spPr>
        <p:txBody>
          <a:bodyPr wrap="square" rtlCol="0"/>
          <a:lstStyle>
            <a:lvl1pPr algn="l" indent="0" marL="0">
              <a:buNone/>
              <a:defRPr lang="en-US" sz="2400" dirty="0">
                <a:solidFill>
                  <a:schemeClr val="bg1"/>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457200" y="4846320"/>
            <a:ext cx="5486400" cy="201168"/>
          </a:xfrm>
          <a:prstGeom prst="rect">
            <a:avLst/>
          </a:prstGeom>
          <a:noFill/>
          <a:ln/>
        </p:spPr>
        <p:txBody>
          <a:bodyPr wrap="square" lIns="0" tIns="0" rIns="0" bIns="0" rtlCol="0" anchor="ctr"/>
          <a:lstStyle/>
          <a:p>
            <a:pPr indent="0" marL="0">
              <a:buNone/>
            </a:pPr>
            <a:r>
              <a:rPr lang="en-US" sz="1000" dirty="0">
                <a:solidFill>
                  <a:schemeClr val="tx2"/>
                </a:solidFill>
              </a:rPr>
              <a:t>CyberGuard  |  Protecting users from online threats</a:t>
            </a:r>
            <a:endParaRPr lang="en-US" sz="10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457200" y="548640"/>
            <a:ext cx="4572000" cy="274320"/>
          </a:xfrm>
          <a:prstGeom prst="rect">
            <a:avLst/>
          </a:prstGeom>
          <a:noFill/>
          <a:ln/>
        </p:spPr>
        <p:txBody>
          <a:bodyPr wrap="square" lIns="0" tIns="0" rIns="0" bIns="0" rtlCol="0" anchor="ctr"/>
          <a:lstStyle/>
          <a:p>
            <a:pPr indent="0" marL="0">
              <a:buNone/>
            </a:pPr>
            <a:r>
              <a:rPr lang="en-US" sz="1200" b="1" spc="300" kern="0" dirty="0">
                <a:solidFill>
                  <a:schemeClr val="accent5"/>
                </a:solidFill>
              </a:rPr>
              <a:t>CYBERSECURITY PROJECT</a:t>
            </a:r>
            <a:endParaRPr lang="en-US" sz="1200" dirty="0"/>
          </a:p>
        </p:txBody>
      </p:sp>
      <p:sp>
        <p:nvSpPr>
          <p:cNvPr id="3" name="Text 0"/>
          <p:cNvSpPr/>
          <p:nvPr>
            <p:ph idx="100" type="title" hasCustomPrompt="1"/>
          </p:nvPr>
        </p:nvSpPr>
        <p:spPr>
          <a:xfrm>
            <a:off x="457200" y="1051560"/>
            <a:ext cx="5669280" cy="914400"/>
          </a:xfrm>
          <a:prstGeom prst="rect">
            <a:avLst/>
          </a:prstGeom>
          <a:noFill/>
          <a:ln/>
        </p:spPr>
        <p:txBody>
          <a:bodyPr wrap="square" lIns="0" tIns="0" rIns="0" bIns="0" rtlCol="0" anchor="t"/>
          <a:lstStyle/>
          <a:p>
            <a:pPr algn="l" indent="0" marL="0">
              <a:buNone/>
            </a:pPr>
            <a:r>
              <a:rPr lang="en-US" sz="6000" b="1" dirty="0">
                <a:solidFill>
                  <a:schemeClr val="bg1"/>
                </a:solidFill>
              </a:rPr>
              <a:t>CyberGuard</a:t>
            </a:r>
            <a:endParaRPr lang="en-US" sz="6000" dirty="0"/>
          </a:p>
        </p:txBody>
      </p:sp>
      <p:sp>
        <p:nvSpPr>
          <p:cNvPr id="4" name="Text 0"/>
          <p:cNvSpPr/>
          <p:nvPr>
            <p:ph idx="101" type="body" hasCustomPrompt="1"/>
          </p:nvPr>
        </p:nvSpPr>
        <p:spPr>
          <a:xfrm>
            <a:off x="457200" y="2011680"/>
            <a:ext cx="5852160" cy="457200"/>
          </a:xfrm>
          <a:prstGeom prst="rect">
            <a:avLst/>
          </a:prstGeom>
          <a:noFill/>
          <a:ln/>
        </p:spPr>
        <p:txBody>
          <a:bodyPr wrap="square" lIns="0" tIns="0" rIns="0" bIns="0" rtlCol="0" anchor="t"/>
          <a:lstStyle/>
          <a:p>
            <a:pPr algn="l" indent="0" marL="0">
              <a:buNone/>
            </a:pPr>
            <a:r>
              <a:rPr lang="en-US" sz="2400" dirty="0">
                <a:solidFill>
                  <a:schemeClr val="bg1"/>
                </a:solidFill>
              </a:rPr>
              <a:t>Protecting users from online threats</a:t>
            </a:r>
            <a:endParaRPr lang="en-US" sz="2400" dirty="0"/>
          </a:p>
        </p:txBody>
      </p:sp>
      <p:sp>
        <p:nvSpPr>
          <p:cNvPr id="5" name="Tagline"/>
          <p:cNvSpPr txBox="1"/>
          <p:nvPr/>
        </p:nvSpPr>
        <p:spPr>
          <a:xfrm>
            <a:off x="457200" y="2606040"/>
            <a:ext cx="5852160" cy="365760"/>
          </a:xfrm>
          <a:prstGeom prst="rect">
            <a:avLst/>
          </a:prstGeom>
          <a:noFill/>
          <a:ln/>
        </p:spPr>
        <p:txBody>
          <a:bodyPr wrap="square" lIns="0" tIns="0" rIns="0" bIns="0" rtlCol="0" anchor="ctr"/>
          <a:lstStyle/>
          <a:p>
            <a:pPr indent="0" marL="0">
              <a:buNone/>
            </a:pPr>
            <a:r>
              <a:rPr lang="en-US" sz="1600" dirty="0">
                <a:solidFill>
                  <a:schemeClr val="bg2"/>
                </a:solidFill>
              </a:rPr>
              <a:t>Stopping phishing and online fraud before the click.</a:t>
            </a:r>
            <a:endParaRPr lang="en-US" sz="1600" dirty="0"/>
          </a:p>
        </p:txBody>
      </p:sp>
      <p:pic>
        <p:nvPicPr>
          <p:cNvPr id="6" name="Shield motif" descr="Shield icon">    </p:cNvPr>
          <p:cNvPicPr>
            <a:picLocks noChangeAspect="1"/>
          </p:cNvPicPr>
          <p:nvPr/>
        </p:nvPicPr>
        <p:blipFill>
          <a:blip r:embed="rId1"/>
          <a:stretch>
            <a:fillRect/>
          </a:stretch>
        </p:blipFill>
        <p:spPr>
          <a:xfrm>
            <a:off x="6720840" y="868680"/>
            <a:ext cx="1965960" cy="1965960"/>
          </a:xfrm>
          <a:prstGeom prst="rect">
            <a:avLst/>
          </a:prstGeom>
        </p:spPr>
      </p:pic>
      <p:sp>
        <p:nvSpPr>
          <p:cNvPr id="7" name="URL label"/>
          <p:cNvSpPr txBox="1"/>
          <p:nvPr/>
        </p:nvSpPr>
        <p:spPr>
          <a:xfrm>
            <a:off x="457200" y="3108960"/>
            <a:ext cx="4572000" cy="256032"/>
          </a:xfrm>
          <a:prstGeom prst="rect">
            <a:avLst/>
          </a:prstGeom>
          <a:noFill/>
          <a:ln/>
        </p:spPr>
        <p:txBody>
          <a:bodyPr wrap="square" lIns="0" tIns="0" rIns="0" bIns="0" rtlCol="0" anchor="ctr"/>
          <a:lstStyle/>
          <a:p>
            <a:pPr indent="0" marL="0">
              <a:buNone/>
            </a:pPr>
            <a:r>
              <a:rPr lang="en-US" sz="1200" b="1" dirty="0">
                <a:solidFill>
                  <a:schemeClr val="accent5"/>
                </a:solidFill>
              </a:rPr>
              <a:t>Who really owns this link?</a:t>
            </a:r>
            <a:endParaRPr lang="en-US" sz="1200" dirty="0"/>
          </a:p>
        </p:txBody>
      </p:sp>
      <p:sp>
        <p:nvSpPr>
          <p:cNvPr id="8" name="URL bar"/>
          <p:cNvSpPr/>
          <p:nvPr/>
        </p:nvSpPr>
        <p:spPr>
          <a:xfrm>
            <a:off x="457200" y="3429000"/>
            <a:ext cx="5806440" cy="502920"/>
          </a:xfrm>
          <a:prstGeom prst="roundRect">
            <a:avLst>
              <a:gd name="adj" fmla="val 18182"/>
            </a:avLst>
          </a:prstGeom>
          <a:solidFill>
            <a:schemeClr val="bg1"/>
          </a:solidFill>
          <a:ln/>
        </p:spPr>
      </p:sp>
      <p:sp>
        <p:nvSpPr>
          <p:cNvPr id="9" name="Real domain highlight"/>
          <p:cNvSpPr/>
          <p:nvPr/>
        </p:nvSpPr>
        <p:spPr>
          <a:xfrm>
            <a:off x="3368040" y="3520440"/>
            <a:ext cx="2011680" cy="320040"/>
          </a:xfrm>
          <a:prstGeom prst="roundRect">
            <a:avLst>
              <a:gd name="adj" fmla="val 14286"/>
            </a:avLst>
          </a:prstGeom>
          <a:solidFill>
            <a:schemeClr val="accent1"/>
          </a:solidFill>
          <a:ln/>
        </p:spPr>
      </p:sp>
      <p:sp>
        <p:nvSpPr>
          <p:cNvPr id="10" name="URL prefix"/>
          <p:cNvSpPr txBox="1"/>
          <p:nvPr/>
        </p:nvSpPr>
        <p:spPr>
          <a:xfrm>
            <a:off x="640080" y="3429000"/>
            <a:ext cx="2819400" cy="502920"/>
          </a:xfrm>
          <a:prstGeom prst="rect">
            <a:avLst/>
          </a:prstGeom>
          <a:noFill/>
          <a:ln/>
        </p:spPr>
        <p:txBody>
          <a:bodyPr wrap="square" lIns="0" tIns="0" rIns="0" bIns="0" rtlCol="0" anchor="ctr"/>
          <a:lstStyle/>
          <a:p>
            <a:pPr indent="0" marL="0">
              <a:buNone/>
            </a:pPr>
            <a:r>
              <a:rPr lang="en-US" sz="1400" dirty="0">
                <a:solidFill>
                  <a:schemeClr val="tx2"/>
                </a:solidFill>
                <a:latin typeface="Courier New" pitchFamily="34" charset="0"/>
                <a:ea typeface="Courier New" pitchFamily="34" charset="-122"/>
                <a:cs typeface="Courier New" pitchFamily="34" charset="-120"/>
              </a:rPr>
              <a:t>https://meridiancloud.com.</a:t>
            </a:r>
            <a:endParaRPr lang="en-US" sz="1400" dirty="0"/>
          </a:p>
        </p:txBody>
      </p:sp>
      <p:sp>
        <p:nvSpPr>
          <p:cNvPr id="11" name="URL real domain"/>
          <p:cNvSpPr txBox="1"/>
          <p:nvPr/>
        </p:nvSpPr>
        <p:spPr>
          <a:xfrm>
            <a:off x="3413760" y="3429000"/>
            <a:ext cx="1965960" cy="502920"/>
          </a:xfrm>
          <a:prstGeom prst="rect">
            <a:avLst/>
          </a:prstGeom>
          <a:noFill/>
          <a:ln/>
        </p:spPr>
        <p:txBody>
          <a:bodyPr wrap="square" lIns="0" tIns="0" rIns="0" bIns="0" rtlCol="0" anchor="ctr"/>
          <a:lstStyle/>
          <a:p>
            <a:pPr indent="0" marL="0">
              <a:buNone/>
            </a:pPr>
            <a:r>
              <a:rPr lang="en-US" sz="1400" b="1" dirty="0">
                <a:solidFill>
                  <a:schemeClr val="bg1"/>
                </a:solidFill>
                <a:latin typeface="Courier New" pitchFamily="34" charset="0"/>
                <a:ea typeface="Courier New" pitchFamily="34" charset="-122"/>
                <a:cs typeface="Courier New" pitchFamily="34" charset="-120"/>
              </a:rPr>
              <a:t>account-verify.net</a:t>
            </a:r>
            <a:endParaRPr lang="en-US" sz="1400" dirty="0"/>
          </a:p>
        </p:txBody>
      </p:sp>
      <p:sp>
        <p:nvSpPr>
          <p:cNvPr id="12" name="URL path"/>
          <p:cNvSpPr txBox="1"/>
          <p:nvPr/>
        </p:nvSpPr>
        <p:spPr>
          <a:xfrm>
            <a:off x="5334000" y="3429000"/>
            <a:ext cx="792480" cy="502920"/>
          </a:xfrm>
          <a:prstGeom prst="rect">
            <a:avLst/>
          </a:prstGeom>
          <a:noFill/>
          <a:ln/>
        </p:spPr>
        <p:txBody>
          <a:bodyPr wrap="square" lIns="0" tIns="0" rIns="0" bIns="0" rtlCol="0" anchor="ctr"/>
          <a:lstStyle/>
          <a:p>
            <a:pPr indent="0" marL="0">
              <a:buNone/>
            </a:pPr>
            <a:r>
              <a:rPr lang="en-US" sz="1400" dirty="0">
                <a:solidFill>
                  <a:schemeClr val="tx2"/>
                </a:solidFill>
                <a:latin typeface="Courier New" pitchFamily="34" charset="0"/>
                <a:ea typeface="Courier New" pitchFamily="34" charset="-122"/>
                <a:cs typeface="Courier New" pitchFamily="34" charset="-120"/>
              </a:rPr>
              <a:t>/signin</a:t>
            </a:r>
            <a:endParaRPr lang="en-US" sz="1400" dirty="0"/>
          </a:p>
        </p:txBody>
      </p:sp>
      <p:sp>
        <p:nvSpPr>
          <p:cNvPr id="13" name="URL caption"/>
          <p:cNvSpPr txBox="1"/>
          <p:nvPr/>
        </p:nvSpPr>
        <p:spPr>
          <a:xfrm>
            <a:off x="457200" y="4023360"/>
            <a:ext cx="6583680" cy="320040"/>
          </a:xfrm>
          <a:prstGeom prst="rect">
            <a:avLst/>
          </a:prstGeom>
          <a:noFill/>
          <a:ln/>
        </p:spPr>
        <p:txBody>
          <a:bodyPr wrap="square" lIns="0" tIns="0" rIns="0" bIns="0" rtlCol="0" anchor="ctr"/>
          <a:lstStyle/>
          <a:p>
            <a:pPr indent="0" marL="0">
              <a:buNone/>
            </a:pPr>
            <a:r>
              <a:rPr lang="en-US" sz="1400" dirty="0">
                <a:solidFill>
                  <a:schemeClr val="bg2"/>
                </a:solidFill>
              </a:rPr>
              <a:t>The real owner is account-verify.net. Everything in front of it is decoration.</a:t>
            </a:r>
            <a:endParaRPr lang="en-US" sz="1400" dirty="0"/>
          </a:p>
        </p:txBody>
      </p:sp>
      <p:sp>
        <p:nvSpPr>
          <p:cNvPr id="14" name="Presenter"/>
          <p:cNvSpPr txBox="1"/>
          <p:nvPr/>
        </p:nvSpPr>
        <p:spPr>
          <a:xfrm>
            <a:off x="457200" y="4572000"/>
            <a:ext cx="4572000" cy="274320"/>
          </a:xfrm>
          <a:prstGeom prst="rect">
            <a:avLst/>
          </a:prstGeom>
          <a:noFill/>
          <a:ln/>
        </p:spPr>
        <p:txBody>
          <a:bodyPr wrap="square" lIns="0" tIns="0" rIns="0" bIns="0" rtlCol="0" anchor="ctr"/>
          <a:lstStyle/>
          <a:p>
            <a:pPr indent="0" marL="0">
              <a:buNone/>
            </a:pPr>
            <a:r>
              <a:rPr lang="en-US" sz="1400" b="1" dirty="0">
                <a:solidFill>
                  <a:schemeClr val="bg1"/>
                </a:solidFill>
              </a:rPr>
              <a:t>Presented by Mahalakshmi 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t"/>
          <a:lstStyle/>
          <a:p>
            <a:pPr algn="l" indent="0" marL="0">
              <a:buNone/>
            </a:pPr>
            <a:r>
              <a:rPr lang="en-US" sz="3600" b="1" dirty="0">
                <a:solidFill>
                  <a:schemeClr val="tx1"/>
                </a:solidFill>
              </a:rPr>
              <a:t>The problem: one click is enough</a:t>
            </a:r>
            <a:endParaRPr lang="en-US" sz="3600" dirty="0"/>
          </a:p>
        </p:txBody>
      </p:sp>
      <p:sp>
        <p:nvSpPr>
          <p:cNvPr id="3" name="Subtitle"/>
          <p:cNvSpPr txBox="1"/>
          <p:nvPr/>
        </p:nvSpPr>
        <p:spPr>
          <a:xfrm>
            <a:off x="457200" y="868680"/>
            <a:ext cx="8229600" cy="292608"/>
          </a:xfrm>
          <a:prstGeom prst="rect">
            <a:avLst/>
          </a:prstGeom>
          <a:noFill/>
          <a:ln/>
        </p:spPr>
        <p:txBody>
          <a:bodyPr wrap="square" lIns="0" tIns="0" rIns="0" bIns="0" rtlCol="0" anchor="ctr"/>
          <a:lstStyle/>
          <a:p>
            <a:pPr indent="0" marL="0">
              <a:buNone/>
            </a:pPr>
            <a:r>
              <a:rPr lang="en-US" sz="1400" dirty="0">
                <a:solidFill>
                  <a:schemeClr val="tx2"/>
                </a:solidFill>
              </a:rPr>
              <a:t>Phishing and fraud succeed because they target people, not software.</a:t>
            </a:r>
            <a:endParaRPr lang="en-US" sz="1400" dirty="0"/>
          </a:p>
        </p:txBody>
      </p:sp>
      <p:sp>
        <p:nvSpPr>
          <p:cNvPr id="4" name="Stat card 1"/>
          <p:cNvSpPr/>
          <p:nvPr/>
        </p:nvSpPr>
        <p:spPr>
          <a:xfrm>
            <a:off x="457200" y="1371600"/>
            <a:ext cx="1920240" cy="1508760"/>
          </a:xfrm>
          <a:prstGeom prst="rect">
            <a:avLst/>
          </a:prstGeom>
          <a:solidFill>
            <a:schemeClr val="bg2"/>
          </a:solidFill>
          <a:ln/>
        </p:spPr>
      </p:sp>
      <p:sp>
        <p:nvSpPr>
          <p:cNvPr id="5" name="Stat value 1"/>
          <p:cNvSpPr txBox="1"/>
          <p:nvPr/>
        </p:nvSpPr>
        <p:spPr>
          <a:xfrm>
            <a:off x="594360" y="1444752"/>
            <a:ext cx="164592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62%</a:t>
            </a:r>
            <a:endParaRPr lang="en-US" sz="2600" dirty="0"/>
          </a:p>
        </p:txBody>
      </p:sp>
      <p:sp>
        <p:nvSpPr>
          <p:cNvPr id="6" name="Stat label 1"/>
          <p:cNvSpPr txBox="1"/>
          <p:nvPr/>
        </p:nvSpPr>
        <p:spPr>
          <a:xfrm>
            <a:off x="594360" y="1920240"/>
            <a:ext cx="1645920" cy="640080"/>
          </a:xfrm>
          <a:prstGeom prst="rect">
            <a:avLst/>
          </a:prstGeom>
          <a:noFill/>
          <a:ln/>
        </p:spPr>
        <p:txBody>
          <a:bodyPr wrap="square" lIns="0" tIns="0" rIns="0" bIns="0" rtlCol="0" anchor="t"/>
          <a:lstStyle/>
          <a:p>
            <a:pPr indent="0" marL="0">
              <a:buNone/>
            </a:pPr>
            <a:r>
              <a:rPr lang="en-US" sz="1200" dirty="0">
                <a:solidFill>
                  <a:schemeClr val="tx1"/>
                </a:solidFill>
              </a:rPr>
              <a:t>of data breaches involved the human element</a:t>
            </a:r>
            <a:endParaRPr lang="en-US" sz="1200" dirty="0"/>
          </a:p>
        </p:txBody>
      </p:sp>
      <p:sp>
        <p:nvSpPr>
          <p:cNvPr id="7" name="Stat source 1"/>
          <p:cNvSpPr txBox="1"/>
          <p:nvPr/>
        </p:nvSpPr>
        <p:spPr>
          <a:xfrm>
            <a:off x="594360" y="2578608"/>
            <a:ext cx="1645920" cy="228600"/>
          </a:xfrm>
          <a:prstGeom prst="rect">
            <a:avLst/>
          </a:prstGeom>
          <a:noFill/>
          <a:ln/>
        </p:spPr>
        <p:txBody>
          <a:bodyPr wrap="square" lIns="0" tIns="0" rIns="0" bIns="0" rtlCol="0" anchor="t"/>
          <a:lstStyle/>
          <a:p>
            <a:pPr indent="0" marL="0">
              <a:buNone/>
            </a:pPr>
            <a:r>
              <a:rPr lang="en-US" sz="1000" dirty="0">
                <a:solidFill>
                  <a:schemeClr val="tx2"/>
                </a:solidFill>
              </a:rPr>
              <a:t>Verizon DBIR 2026</a:t>
            </a:r>
            <a:endParaRPr lang="en-US" sz="1000" dirty="0"/>
          </a:p>
        </p:txBody>
      </p:sp>
      <p:sp>
        <p:nvSpPr>
          <p:cNvPr id="8" name="Stat card 2"/>
          <p:cNvSpPr/>
          <p:nvPr/>
        </p:nvSpPr>
        <p:spPr>
          <a:xfrm>
            <a:off x="2560320" y="1371600"/>
            <a:ext cx="1920240" cy="1508760"/>
          </a:xfrm>
          <a:prstGeom prst="rect">
            <a:avLst/>
          </a:prstGeom>
          <a:solidFill>
            <a:schemeClr val="bg2"/>
          </a:solidFill>
          <a:ln/>
        </p:spPr>
      </p:sp>
      <p:sp>
        <p:nvSpPr>
          <p:cNvPr id="9" name="Stat value 2"/>
          <p:cNvSpPr txBox="1"/>
          <p:nvPr/>
        </p:nvSpPr>
        <p:spPr>
          <a:xfrm>
            <a:off x="2697480" y="1444752"/>
            <a:ext cx="164592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3.8M</a:t>
            </a:r>
            <a:endParaRPr lang="en-US" sz="2600" dirty="0"/>
          </a:p>
        </p:txBody>
      </p:sp>
      <p:sp>
        <p:nvSpPr>
          <p:cNvPr id="10" name="Stat label 2"/>
          <p:cNvSpPr txBox="1"/>
          <p:nvPr/>
        </p:nvSpPr>
        <p:spPr>
          <a:xfrm>
            <a:off x="2697480" y="1920240"/>
            <a:ext cx="1645920" cy="640080"/>
          </a:xfrm>
          <a:prstGeom prst="rect">
            <a:avLst/>
          </a:prstGeom>
          <a:noFill/>
          <a:ln/>
        </p:spPr>
        <p:txBody>
          <a:bodyPr wrap="square" lIns="0" tIns="0" rIns="0" bIns="0" rtlCol="0" anchor="t"/>
          <a:lstStyle/>
          <a:p>
            <a:pPr indent="0" marL="0">
              <a:buNone/>
            </a:pPr>
            <a:r>
              <a:rPr lang="en-US" sz="1200" dirty="0">
                <a:solidFill>
                  <a:schemeClr val="tx1"/>
                </a:solidFill>
              </a:rPr>
              <a:t>phishing attacks recorded worldwide in 2025</a:t>
            </a:r>
            <a:endParaRPr lang="en-US" sz="1200" dirty="0"/>
          </a:p>
        </p:txBody>
      </p:sp>
      <p:sp>
        <p:nvSpPr>
          <p:cNvPr id="11" name="Stat source 2"/>
          <p:cNvSpPr txBox="1"/>
          <p:nvPr/>
        </p:nvSpPr>
        <p:spPr>
          <a:xfrm>
            <a:off x="2697480" y="2578608"/>
            <a:ext cx="1645920" cy="228600"/>
          </a:xfrm>
          <a:prstGeom prst="rect">
            <a:avLst/>
          </a:prstGeom>
          <a:noFill/>
          <a:ln/>
        </p:spPr>
        <p:txBody>
          <a:bodyPr wrap="square" lIns="0" tIns="0" rIns="0" bIns="0" rtlCol="0" anchor="t"/>
          <a:lstStyle/>
          <a:p>
            <a:pPr indent="0" marL="0">
              <a:buNone/>
            </a:pPr>
            <a:r>
              <a:rPr lang="en-US" sz="1000" dirty="0">
                <a:solidFill>
                  <a:schemeClr val="tx2"/>
                </a:solidFill>
              </a:rPr>
              <a:t>APWG, Q4 2025 report</a:t>
            </a:r>
            <a:endParaRPr lang="en-US" sz="1000" dirty="0"/>
          </a:p>
        </p:txBody>
      </p:sp>
      <p:sp>
        <p:nvSpPr>
          <p:cNvPr id="12" name="Stat card 3"/>
          <p:cNvSpPr/>
          <p:nvPr/>
        </p:nvSpPr>
        <p:spPr>
          <a:xfrm>
            <a:off x="4663440" y="1371600"/>
            <a:ext cx="1920240" cy="1508760"/>
          </a:xfrm>
          <a:prstGeom prst="rect">
            <a:avLst/>
          </a:prstGeom>
          <a:solidFill>
            <a:schemeClr val="bg2"/>
          </a:solidFill>
          <a:ln/>
        </p:spPr>
      </p:sp>
      <p:sp>
        <p:nvSpPr>
          <p:cNvPr id="13" name="Stat value 3"/>
          <p:cNvSpPr txBox="1"/>
          <p:nvPr/>
        </p:nvSpPr>
        <p:spPr>
          <a:xfrm>
            <a:off x="4800600" y="1444752"/>
            <a:ext cx="164592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21.8 lakh</a:t>
            </a:r>
            <a:endParaRPr lang="en-US" sz="2600" dirty="0"/>
          </a:p>
        </p:txBody>
      </p:sp>
      <p:sp>
        <p:nvSpPr>
          <p:cNvPr id="14" name="Stat label 3"/>
          <p:cNvSpPr txBox="1"/>
          <p:nvPr/>
        </p:nvSpPr>
        <p:spPr>
          <a:xfrm>
            <a:off x="4800600" y="1920240"/>
            <a:ext cx="1645920" cy="640080"/>
          </a:xfrm>
          <a:prstGeom prst="rect">
            <a:avLst/>
          </a:prstGeom>
          <a:noFill/>
          <a:ln/>
        </p:spPr>
        <p:txBody>
          <a:bodyPr wrap="square" lIns="0" tIns="0" rIns="0" bIns="0" rtlCol="0" anchor="t"/>
          <a:lstStyle/>
          <a:p>
            <a:pPr indent="0" marL="0">
              <a:buNone/>
            </a:pPr>
            <a:r>
              <a:rPr lang="en-US" sz="1200" dirty="0">
                <a:solidFill>
                  <a:schemeClr val="tx1"/>
                </a:solidFill>
              </a:rPr>
              <a:t>cyber-fraud complaints in India in 2025, about Rs 19,800 crore lost</a:t>
            </a:r>
            <a:endParaRPr lang="en-US" sz="1200" dirty="0"/>
          </a:p>
        </p:txBody>
      </p:sp>
      <p:sp>
        <p:nvSpPr>
          <p:cNvPr id="15" name="Stat source 3"/>
          <p:cNvSpPr txBox="1"/>
          <p:nvPr/>
        </p:nvSpPr>
        <p:spPr>
          <a:xfrm>
            <a:off x="4800600" y="2578608"/>
            <a:ext cx="1645920" cy="228600"/>
          </a:xfrm>
          <a:prstGeom prst="rect">
            <a:avLst/>
          </a:prstGeom>
          <a:noFill/>
          <a:ln/>
        </p:spPr>
        <p:txBody>
          <a:bodyPr wrap="square" lIns="0" tIns="0" rIns="0" bIns="0" rtlCol="0" anchor="t"/>
          <a:lstStyle/>
          <a:p>
            <a:pPr indent="0" marL="0">
              <a:buNone/>
            </a:pPr>
            <a:r>
              <a:rPr lang="en-US" sz="1000" dirty="0">
                <a:solidFill>
                  <a:schemeClr val="tx2"/>
                </a:solidFill>
              </a:rPr>
              <a:t>I4C data via IANS</a:t>
            </a:r>
            <a:endParaRPr lang="en-US" sz="1000" dirty="0"/>
          </a:p>
        </p:txBody>
      </p:sp>
      <p:sp>
        <p:nvSpPr>
          <p:cNvPr id="16" name="Stat card 4"/>
          <p:cNvSpPr/>
          <p:nvPr/>
        </p:nvSpPr>
        <p:spPr>
          <a:xfrm>
            <a:off x="6766560" y="1371600"/>
            <a:ext cx="1920240" cy="1508760"/>
          </a:xfrm>
          <a:prstGeom prst="rect">
            <a:avLst/>
          </a:prstGeom>
          <a:solidFill>
            <a:schemeClr val="bg2"/>
          </a:solidFill>
          <a:ln/>
        </p:spPr>
      </p:sp>
      <p:sp>
        <p:nvSpPr>
          <p:cNvPr id="17" name="Stat value 4"/>
          <p:cNvSpPr txBox="1"/>
          <p:nvPr/>
        </p:nvSpPr>
        <p:spPr>
          <a:xfrm>
            <a:off x="6903720" y="1444752"/>
            <a:ext cx="1645920" cy="4572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1 in 5</a:t>
            </a:r>
            <a:endParaRPr lang="en-US" sz="2600" dirty="0"/>
          </a:p>
        </p:txBody>
      </p:sp>
      <p:sp>
        <p:nvSpPr>
          <p:cNvPr id="18" name="Stat label 4"/>
          <p:cNvSpPr txBox="1"/>
          <p:nvPr/>
        </p:nvSpPr>
        <p:spPr>
          <a:xfrm>
            <a:off x="6903720" y="1920240"/>
            <a:ext cx="1645920" cy="640080"/>
          </a:xfrm>
          <a:prstGeom prst="rect">
            <a:avLst/>
          </a:prstGeom>
          <a:noFill/>
          <a:ln/>
        </p:spPr>
        <p:txBody>
          <a:bodyPr wrap="square" lIns="0" tIns="0" rIns="0" bIns="0" rtlCol="0" anchor="t"/>
          <a:lstStyle/>
          <a:p>
            <a:pPr indent="0" marL="0">
              <a:buNone/>
            </a:pPr>
            <a:r>
              <a:rPr lang="en-US" sz="1200" dirty="0">
                <a:solidFill>
                  <a:schemeClr val="tx1"/>
                </a:solidFill>
              </a:rPr>
              <a:t>UPI-user households hit by fraud in three years</a:t>
            </a:r>
            <a:endParaRPr lang="en-US" sz="1200" dirty="0"/>
          </a:p>
        </p:txBody>
      </p:sp>
      <p:sp>
        <p:nvSpPr>
          <p:cNvPr id="19" name="Stat source 4"/>
          <p:cNvSpPr txBox="1"/>
          <p:nvPr/>
        </p:nvSpPr>
        <p:spPr>
          <a:xfrm>
            <a:off x="6903720" y="2578608"/>
            <a:ext cx="1645920" cy="228600"/>
          </a:xfrm>
          <a:prstGeom prst="rect">
            <a:avLst/>
          </a:prstGeom>
          <a:noFill/>
          <a:ln/>
        </p:spPr>
        <p:txBody>
          <a:bodyPr wrap="square" lIns="0" tIns="0" rIns="0" bIns="0" rtlCol="0" anchor="t"/>
          <a:lstStyle/>
          <a:p>
            <a:pPr indent="0" marL="0">
              <a:buNone/>
            </a:pPr>
            <a:r>
              <a:rPr lang="en-US" sz="1000" dirty="0">
                <a:solidFill>
                  <a:schemeClr val="tx2"/>
                </a:solidFill>
              </a:rPr>
              <a:t>LocalCircles, 32,000+ responses</a:t>
            </a:r>
            <a:endParaRPr lang="en-US" sz="1000" dirty="0"/>
          </a:p>
        </p:txBody>
      </p:sp>
      <p:sp>
        <p:nvSpPr>
          <p:cNvPr id="20" name="Why heading"/>
          <p:cNvSpPr txBox="1"/>
          <p:nvPr/>
        </p:nvSpPr>
        <p:spPr>
          <a:xfrm>
            <a:off x="457200" y="3017520"/>
            <a:ext cx="4114800" cy="274320"/>
          </a:xfrm>
          <a:prstGeom prst="rect">
            <a:avLst/>
          </a:prstGeom>
          <a:noFill/>
          <a:ln/>
        </p:spPr>
        <p:txBody>
          <a:bodyPr wrap="square" lIns="0" tIns="0" rIns="0" bIns="0" rtlCol="0" anchor="ctr"/>
          <a:lstStyle/>
          <a:p>
            <a:pPr indent="0" marL="0">
              <a:buNone/>
            </a:pPr>
            <a:r>
              <a:rPr lang="en-US" sz="1600" b="1" dirty="0">
                <a:solidFill>
                  <a:schemeClr val="tx1"/>
                </a:solidFill>
              </a:rPr>
              <a:t>Why it works</a:t>
            </a:r>
            <a:endParaRPr lang="en-US" sz="1600" dirty="0"/>
          </a:p>
        </p:txBody>
      </p:sp>
      <p:sp>
        <p:nvSpPr>
          <p:cNvPr id="21" name="Why bullets"/>
          <p:cNvSpPr txBox="1"/>
          <p:nvPr/>
        </p:nvSpPr>
        <p:spPr>
          <a:xfrm>
            <a:off x="457200" y="3310128"/>
            <a:ext cx="4114800" cy="11887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Decoy and lookalike domains pass a quick glance</a:t>
            </a:r>
            <a:endParaRPr lang="en-US" sz="1300" dirty="0"/>
          </a:p>
          <a:p>
            <a:pPr marL="342900" indent="-342900">
              <a:spcAft>
                <a:spcPts val="400"/>
              </a:spcAft>
              <a:buSzPct val="100000"/>
              <a:buChar char="•"/>
            </a:pPr>
            <a:r>
              <a:rPr lang="en-US" sz="1300" dirty="0">
                <a:solidFill>
                  <a:schemeClr val="tx1"/>
                </a:solidFill>
              </a:rPr>
              <a:t>Urgency on trusted channels (SMS, UPI, QR) rushes people past checking</a:t>
            </a:r>
            <a:endParaRPr lang="en-US" sz="1300" dirty="0"/>
          </a:p>
          <a:p>
            <a:pPr marL="342900" indent="-342900">
              <a:spcAft>
                <a:spcPts val="400"/>
              </a:spcAft>
              <a:buSzPct val="100000"/>
              <a:buChar char="•"/>
            </a:pPr>
            <a:r>
              <a:rPr lang="en-US" sz="1300" dirty="0">
                <a:solidFill>
                  <a:schemeClr val="tx1"/>
                </a:solidFill>
              </a:rPr>
              <a:t>40% of UPI fraud victims tapped a payment link to receive money, and 51% never reported it</a:t>
            </a:r>
            <a:endParaRPr lang="en-US" sz="1300" dirty="0"/>
          </a:p>
        </p:txBody>
      </p:sp>
      <p:sp>
        <p:nvSpPr>
          <p:cNvPr id="22" name="Problem statement panel"/>
          <p:cNvSpPr/>
          <p:nvPr/>
        </p:nvSpPr>
        <p:spPr>
          <a:xfrm>
            <a:off x="4846320" y="3017520"/>
            <a:ext cx="3840480" cy="1463040"/>
          </a:xfrm>
          <a:prstGeom prst="rect">
            <a:avLst/>
          </a:prstGeom>
          <a:solidFill>
            <a:schemeClr val="tx1"/>
          </a:solidFill>
          <a:ln/>
        </p:spPr>
      </p:sp>
      <p:sp>
        <p:nvSpPr>
          <p:cNvPr id="23" name="Problem statement"/>
          <p:cNvSpPr txBox="1"/>
          <p:nvPr/>
        </p:nvSpPr>
        <p:spPr>
          <a:xfrm>
            <a:off x="5029200" y="3108960"/>
            <a:ext cx="3474720" cy="1280160"/>
          </a:xfrm>
          <a:prstGeom prst="rect">
            <a:avLst/>
          </a:prstGeom>
          <a:noFill/>
          <a:ln/>
        </p:spPr>
        <p:txBody>
          <a:bodyPr wrap="square" lIns="0" tIns="0" rIns="0" bIns="0" rtlCol="0" anchor="t"/>
          <a:lstStyle/>
          <a:p>
            <a:pPr indent="0" marL="0">
              <a:spcAft>
                <a:spcPts val="600"/>
              </a:spcAft>
              <a:buNone/>
            </a:pPr>
            <a:r>
              <a:rPr lang="en-US" sz="1100" b="1" spc="200" kern="0" dirty="0">
                <a:solidFill>
                  <a:schemeClr val="accent5"/>
                </a:solidFill>
              </a:rPr>
              <a:t>PROBLEM STATEMENT</a:t>
            </a:r>
            <a:endParaRPr lang="en-US" sz="1100" dirty="0"/>
          </a:p>
          <a:p>
            <a:pPr indent="0" marL="0">
              <a:buNone/>
            </a:pPr>
            <a:r>
              <a:rPr lang="en-US" sz="1500" dirty="0">
                <a:solidFill>
                  <a:schemeClr val="bg1"/>
                </a:solidFill>
              </a:rPr>
              <a:t>People cannot reliably tell a real link from a fake one in the moment, and have no safe place to check or practise before they click.</a:t>
            </a:r>
            <a:endParaRPr lang="en-US" sz="1100" dirty="0"/>
          </a:p>
        </p:txBody>
      </p:sp>
      <p:sp>
        <p:nvSpPr>
          <p:cNvPr id="24" name="Sources"/>
          <p:cNvSpPr txBox="1"/>
          <p:nvPr/>
        </p:nvSpPr>
        <p:spPr>
          <a:xfrm>
            <a:off x="457200" y="4572000"/>
            <a:ext cx="8229600" cy="201168"/>
          </a:xfrm>
          <a:prstGeom prst="rect">
            <a:avLst/>
          </a:prstGeom>
          <a:noFill/>
          <a:ln/>
        </p:spPr>
        <p:txBody>
          <a:bodyPr wrap="square" lIns="0" tIns="0" rIns="0" bIns="0" rtlCol="0" anchor="ctr"/>
          <a:lstStyle/>
          <a:p>
            <a:pPr indent="0" marL="0">
              <a:buNone/>
            </a:pPr>
            <a:r>
              <a:rPr lang="en-US" sz="1000" dirty="0">
                <a:solidFill>
                  <a:schemeClr val="tx2"/>
                </a:solidFill>
              </a:rPr>
              <a:t>Sources: Verizon 2026 DBIR; APWG Q4 2025; I4C via IANS, Jan 2026; LocalCircles via Business Standard, Jun 2025</a:t>
            </a:r>
            <a:endParaRPr lang="en-US" sz="10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t"/>
          <a:lstStyle/>
          <a:p>
            <a:pPr algn="l" indent="0" marL="0">
              <a:buNone/>
            </a:pPr>
            <a:r>
              <a:rPr lang="en-US" sz="3600" b="1" dirty="0">
                <a:solidFill>
                  <a:schemeClr val="tx1"/>
                </a:solidFill>
              </a:rPr>
              <a:t>The solution: check before you click</a:t>
            </a:r>
            <a:endParaRPr lang="en-US" sz="3600" dirty="0"/>
          </a:p>
        </p:txBody>
      </p:sp>
      <p:sp>
        <p:nvSpPr>
          <p:cNvPr id="3" name="Subtitle"/>
          <p:cNvSpPr txBox="1"/>
          <p:nvPr/>
        </p:nvSpPr>
        <p:spPr>
          <a:xfrm>
            <a:off x="457200" y="868680"/>
            <a:ext cx="8229600" cy="292608"/>
          </a:xfrm>
          <a:prstGeom prst="rect">
            <a:avLst/>
          </a:prstGeom>
          <a:noFill/>
          <a:ln/>
        </p:spPr>
        <p:txBody>
          <a:bodyPr wrap="square" lIns="0" tIns="0" rIns="0" bIns="0" rtlCol="0" anchor="ctr"/>
          <a:lstStyle/>
          <a:p>
            <a:pPr indent="0" marL="0">
              <a:buNone/>
            </a:pPr>
            <a:r>
              <a:rPr lang="en-US" sz="1400" dirty="0">
                <a:solidFill>
                  <a:schemeClr val="tx2"/>
                </a:solidFill>
              </a:rPr>
              <a:t>Read the real address, score the signals, give a clear verdict, then build the habit.</a:t>
            </a:r>
            <a:endParaRPr lang="en-US" sz="1400" dirty="0"/>
          </a:p>
        </p:txBody>
      </p:sp>
      <p:sp>
        <p:nvSpPr>
          <p:cNvPr id="4" name="Step 1 input"/>
          <p:cNvSpPr/>
          <p:nvPr/>
        </p:nvSpPr>
        <p:spPr>
          <a:xfrm>
            <a:off x="457200" y="1371600"/>
            <a:ext cx="1783080" cy="1280160"/>
          </a:xfrm>
          <a:prstGeom prst="roundRect">
            <a:avLst>
              <a:gd name="adj" fmla="val 5714"/>
            </a:avLst>
          </a:prstGeom>
          <a:solidFill>
            <a:schemeClr val="bg2"/>
          </a:solidFill>
          <a:ln/>
        </p:spPr>
        <p:txBody>
          <a:bodyPr wrap="square" lIns="101600" tIns="127000" rIns="127000" bIns="76200" rtlCol="0" anchor="t"/>
          <a:lstStyle/>
          <a:p>
            <a:pPr indent="0" marL="0">
              <a:spcAft>
                <a:spcPts val="300"/>
              </a:spcAft>
              <a:buNone/>
            </a:pPr>
            <a:r>
              <a:rPr lang="en-US" sz="1300" b="1" dirty="0">
                <a:solidFill>
                  <a:schemeClr val="tx1"/>
                </a:solidFill>
              </a:rPr>
              <a:t>1. Message arrives</a:t>
            </a:r>
            <a:endParaRPr lang="en-US" sz="1300" dirty="0"/>
          </a:p>
          <a:p>
            <a:pPr indent="0" marL="0">
              <a:buNone/>
            </a:pPr>
            <a:r>
              <a:rPr lang="en-US" sz="1200" dirty="0">
                <a:solidFill>
                  <a:schemeClr val="tx1"/>
                </a:solidFill>
              </a:rPr>
              <a:t>A link, SMS or email the user is unsure about, pasted into the analyzer</a:t>
            </a:r>
            <a:endParaRPr lang="en-US" sz="1300" dirty="0"/>
          </a:p>
        </p:txBody>
      </p:sp>
      <p:sp>
        <p:nvSpPr>
          <p:cNvPr id="5" name="Step 2 parse"/>
          <p:cNvSpPr/>
          <p:nvPr/>
        </p:nvSpPr>
        <p:spPr>
          <a:xfrm>
            <a:off x="2560320" y="1371600"/>
            <a:ext cx="1783080" cy="1280160"/>
          </a:xfrm>
          <a:prstGeom prst="roundRect">
            <a:avLst>
              <a:gd name="adj" fmla="val 5714"/>
            </a:avLst>
          </a:prstGeom>
          <a:solidFill>
            <a:schemeClr val="bg2"/>
          </a:solidFill>
          <a:ln/>
        </p:spPr>
        <p:txBody>
          <a:bodyPr wrap="square" lIns="101600" tIns="127000" rIns="127000" bIns="76200" rtlCol="0" anchor="t"/>
          <a:lstStyle/>
          <a:p>
            <a:pPr indent="0" marL="0">
              <a:spcAft>
                <a:spcPts val="300"/>
              </a:spcAft>
              <a:buNone/>
            </a:pPr>
            <a:r>
              <a:rPr lang="en-US" sz="1300" b="1" dirty="0">
                <a:solidFill>
                  <a:schemeClr val="tx1"/>
                </a:solidFill>
              </a:rPr>
              <a:t>2. Read the address</a:t>
            </a:r>
            <a:endParaRPr lang="en-US" sz="1300" dirty="0"/>
          </a:p>
          <a:p>
            <a:pPr indent="0" marL="0">
              <a:buNone/>
            </a:pPr>
            <a:r>
              <a:rPr lang="en-US" sz="1200" dirty="0">
                <a:solidFill>
                  <a:schemeClr val="tx1"/>
                </a:solidFill>
              </a:rPr>
              <a:t>Split the real domain from decoy subdomains, lookalike letters and @ tricks</a:t>
            </a:r>
            <a:endParaRPr lang="en-US" sz="1300" dirty="0"/>
          </a:p>
        </p:txBody>
      </p:sp>
      <p:sp>
        <p:nvSpPr>
          <p:cNvPr id="6" name="Step 3 score"/>
          <p:cNvSpPr/>
          <p:nvPr/>
        </p:nvSpPr>
        <p:spPr>
          <a:xfrm>
            <a:off x="4663440" y="1371600"/>
            <a:ext cx="1783080" cy="1280160"/>
          </a:xfrm>
          <a:prstGeom prst="roundRect">
            <a:avLst>
              <a:gd name="adj" fmla="val 5714"/>
            </a:avLst>
          </a:prstGeom>
          <a:solidFill>
            <a:schemeClr val="bg2"/>
          </a:solidFill>
          <a:ln/>
        </p:spPr>
        <p:txBody>
          <a:bodyPr wrap="square" lIns="101600" tIns="127000" rIns="127000" bIns="76200" rtlCol="0" anchor="t"/>
          <a:lstStyle/>
          <a:p>
            <a:pPr indent="0" marL="0">
              <a:spcAft>
                <a:spcPts val="300"/>
              </a:spcAft>
              <a:buNone/>
            </a:pPr>
            <a:r>
              <a:rPr lang="en-US" sz="1300" b="1" dirty="0">
                <a:solidFill>
                  <a:schemeClr val="tx1"/>
                </a:solidFill>
              </a:rPr>
              <a:t>3. Score the signals</a:t>
            </a:r>
            <a:endParaRPr lang="en-US" sz="1300" dirty="0"/>
          </a:p>
          <a:p>
            <a:pPr indent="0" marL="0">
              <a:buNone/>
            </a:pPr>
            <a:r>
              <a:rPr lang="en-US" sz="1200" dirty="0">
                <a:solidFill>
                  <a:schemeClr val="tx1"/>
                </a:solidFill>
              </a:rPr>
              <a:t>Link: IP host, odd endings, shorteners. Wording: urgency, OTP or PIN asks</a:t>
            </a:r>
            <a:endParaRPr lang="en-US" sz="1300" dirty="0"/>
          </a:p>
        </p:txBody>
      </p:sp>
      <p:sp>
        <p:nvSpPr>
          <p:cNvPr id="7" name="Step 4 verdict"/>
          <p:cNvSpPr/>
          <p:nvPr/>
        </p:nvSpPr>
        <p:spPr>
          <a:xfrm>
            <a:off x="6766560" y="1371600"/>
            <a:ext cx="1783080" cy="1280160"/>
          </a:xfrm>
          <a:prstGeom prst="roundRect">
            <a:avLst>
              <a:gd name="adj" fmla="val 5714"/>
            </a:avLst>
          </a:prstGeom>
          <a:solidFill>
            <a:schemeClr val="tx1"/>
          </a:solidFill>
          <a:ln/>
        </p:spPr>
        <p:txBody>
          <a:bodyPr wrap="square" lIns="101600" tIns="127000" rIns="127000" bIns="76200" rtlCol="0" anchor="t"/>
          <a:lstStyle/>
          <a:p>
            <a:pPr indent="0" marL="0">
              <a:spcAft>
                <a:spcPts val="300"/>
              </a:spcAft>
              <a:buNone/>
            </a:pPr>
            <a:r>
              <a:rPr lang="en-US" sz="1300" b="1" dirty="0">
                <a:solidFill>
                  <a:schemeClr val="bg1"/>
                </a:solidFill>
              </a:rPr>
              <a:t>4. Risk verdict</a:t>
            </a:r>
            <a:endParaRPr lang="en-US" sz="1300" dirty="0"/>
          </a:p>
          <a:p>
            <a:pPr indent="0" marL="0">
              <a:buNone/>
            </a:pPr>
            <a:r>
              <a:rPr lang="en-US" sz="1200" dirty="0">
                <a:solidFill>
                  <a:schemeClr val="bg1"/>
                </a:solidFill>
              </a:rPr>
              <a:t>Signals add up to a score from 0 to 100 with the reasons listed</a:t>
            </a:r>
            <a:endParaRPr lang="en-US" sz="1300" dirty="0"/>
          </a:p>
        </p:txBody>
      </p:sp>
      <p:sp>
        <p:nvSpPr>
          <p:cNvPr id="8" name="Arrow 1"/>
          <p:cNvSpPr/>
          <p:nvPr/>
        </p:nvSpPr>
        <p:spPr>
          <a:xfrm>
            <a:off x="2267712" y="2011680"/>
            <a:ext cx="265176" cy="0"/>
          </a:xfrm>
          <a:prstGeom prst="line">
            <a:avLst/>
          </a:prstGeom>
          <a:noFill/>
          <a:ln w="22225">
            <a:solidFill>
              <a:schemeClr val="tx2"/>
            </a:solidFill>
            <a:prstDash val="solid"/>
            <a:tailEnd type="triangle"/>
          </a:ln>
        </p:spPr>
      </p:sp>
      <p:sp>
        <p:nvSpPr>
          <p:cNvPr id="9" name="Arrow 2"/>
          <p:cNvSpPr/>
          <p:nvPr/>
        </p:nvSpPr>
        <p:spPr>
          <a:xfrm>
            <a:off x="4370832" y="2011680"/>
            <a:ext cx="265176" cy="0"/>
          </a:xfrm>
          <a:prstGeom prst="line">
            <a:avLst/>
          </a:prstGeom>
          <a:noFill/>
          <a:ln w="22225">
            <a:solidFill>
              <a:schemeClr val="tx2"/>
            </a:solidFill>
            <a:prstDash val="solid"/>
            <a:tailEnd type="triangle"/>
          </a:ln>
        </p:spPr>
      </p:sp>
      <p:sp>
        <p:nvSpPr>
          <p:cNvPr id="10" name="Arrow 3"/>
          <p:cNvSpPr/>
          <p:nvPr/>
        </p:nvSpPr>
        <p:spPr>
          <a:xfrm>
            <a:off x="6473952" y="2011680"/>
            <a:ext cx="265176" cy="0"/>
          </a:xfrm>
          <a:prstGeom prst="line">
            <a:avLst/>
          </a:prstGeom>
          <a:noFill/>
          <a:ln w="22225">
            <a:solidFill>
              <a:schemeClr val="tx2"/>
            </a:solidFill>
            <a:prstDash val="solid"/>
            <a:tailEnd type="triangle"/>
          </a:ln>
        </p:spPr>
      </p:sp>
      <p:sp>
        <p:nvSpPr>
          <p:cNvPr id="11" name="Verdict stem"/>
          <p:cNvSpPr/>
          <p:nvPr/>
        </p:nvSpPr>
        <p:spPr>
          <a:xfrm>
            <a:off x="7658100" y="2651760"/>
            <a:ext cx="0" cy="320040"/>
          </a:xfrm>
          <a:prstGeom prst="line">
            <a:avLst/>
          </a:prstGeom>
          <a:noFill/>
          <a:ln w="22225">
            <a:solidFill>
              <a:schemeClr val="tx2"/>
            </a:solidFill>
            <a:prstDash val="solid"/>
          </a:ln>
        </p:spPr>
      </p:sp>
      <p:sp>
        <p:nvSpPr>
          <p:cNvPr id="12" name="Verdict bus"/>
          <p:cNvSpPr/>
          <p:nvPr/>
        </p:nvSpPr>
        <p:spPr>
          <a:xfrm>
            <a:off x="3451860" y="2971800"/>
            <a:ext cx="4206240" cy="0"/>
          </a:xfrm>
          <a:prstGeom prst="line">
            <a:avLst/>
          </a:prstGeom>
          <a:noFill/>
          <a:ln w="22225">
            <a:solidFill>
              <a:schemeClr val="tx2"/>
            </a:solidFill>
            <a:prstDash val="solid"/>
          </a:ln>
        </p:spPr>
      </p:sp>
      <p:sp>
        <p:nvSpPr>
          <p:cNvPr id="13" name="Branch arrow 1"/>
          <p:cNvSpPr/>
          <p:nvPr/>
        </p:nvSpPr>
        <p:spPr>
          <a:xfrm>
            <a:off x="3451860" y="2971800"/>
            <a:ext cx="0" cy="201168"/>
          </a:xfrm>
          <a:prstGeom prst="line">
            <a:avLst/>
          </a:prstGeom>
          <a:noFill/>
          <a:ln w="22225">
            <a:solidFill>
              <a:schemeClr val="tx2"/>
            </a:solidFill>
            <a:prstDash val="solid"/>
            <a:tailEnd type="triangle"/>
          </a:ln>
        </p:spPr>
      </p:sp>
      <p:sp>
        <p:nvSpPr>
          <p:cNvPr id="14" name="Branch arrow 2"/>
          <p:cNvSpPr/>
          <p:nvPr/>
        </p:nvSpPr>
        <p:spPr>
          <a:xfrm>
            <a:off x="5554980" y="2971800"/>
            <a:ext cx="0" cy="201168"/>
          </a:xfrm>
          <a:prstGeom prst="line">
            <a:avLst/>
          </a:prstGeom>
          <a:noFill/>
          <a:ln w="22225">
            <a:solidFill>
              <a:schemeClr val="tx2"/>
            </a:solidFill>
            <a:prstDash val="solid"/>
            <a:tailEnd type="triangle"/>
          </a:ln>
        </p:spPr>
      </p:sp>
      <p:sp>
        <p:nvSpPr>
          <p:cNvPr id="15" name="Branch arrow 3"/>
          <p:cNvSpPr/>
          <p:nvPr/>
        </p:nvSpPr>
        <p:spPr>
          <a:xfrm>
            <a:off x="7658100" y="2971800"/>
            <a:ext cx="0" cy="201168"/>
          </a:xfrm>
          <a:prstGeom prst="line">
            <a:avLst/>
          </a:prstGeom>
          <a:noFill/>
          <a:ln w="22225">
            <a:solidFill>
              <a:schemeClr val="tx2"/>
            </a:solidFill>
            <a:prstDash val="solid"/>
            <a:tailEnd type="triangle"/>
          </a:ln>
        </p:spPr>
      </p:sp>
      <p:sp>
        <p:nvSpPr>
          <p:cNvPr id="16" name="Outcome low"/>
          <p:cNvSpPr/>
          <p:nvPr/>
        </p:nvSpPr>
        <p:spPr>
          <a:xfrm>
            <a:off x="2560320" y="3200400"/>
            <a:ext cx="1783080" cy="1097280"/>
          </a:xfrm>
          <a:prstGeom prst="roundRect">
            <a:avLst>
              <a:gd name="adj" fmla="val 6667"/>
            </a:avLst>
          </a:prstGeom>
          <a:solidFill>
            <a:schemeClr val="accent2">
              <a:alpha val="12000"/>
            </a:schemeClr>
          </a:solidFill>
          <a:ln/>
        </p:spPr>
        <p:txBody>
          <a:bodyPr wrap="square" lIns="101600" tIns="127000" rIns="127000" bIns="76200" rtlCol="0" anchor="t"/>
          <a:lstStyle/>
          <a:p>
            <a:pPr indent="0" marL="0">
              <a:spcAft>
                <a:spcPts val="300"/>
              </a:spcAft>
              <a:buNone/>
            </a:pPr>
            <a:r>
              <a:rPr lang="en-US" sz="1300" b="1" dirty="0">
                <a:solidFill>
                  <a:schemeClr val="tx1"/>
                </a:solidFill>
              </a:rPr>
              <a:t>Low risk (under 20)</a:t>
            </a:r>
            <a:endParaRPr lang="en-US" sz="1300" dirty="0"/>
          </a:p>
          <a:p>
            <a:pPr indent="0" marL="0">
              <a:buNone/>
            </a:pPr>
            <a:r>
              <a:rPr lang="en-US" sz="1200" dirty="0">
                <a:solidFill>
                  <a:schemeClr val="tx1"/>
                </a:solidFill>
              </a:rPr>
              <a:t>Nothing matches scam patterns. Still open the site yourself</a:t>
            </a:r>
            <a:endParaRPr lang="en-US" sz="1300" dirty="0"/>
          </a:p>
        </p:txBody>
      </p:sp>
      <p:sp>
        <p:nvSpPr>
          <p:cNvPr id="17" name="Outcome suspicious"/>
          <p:cNvSpPr/>
          <p:nvPr/>
        </p:nvSpPr>
        <p:spPr>
          <a:xfrm>
            <a:off x="4663440" y="3200400"/>
            <a:ext cx="1783080" cy="1097280"/>
          </a:xfrm>
          <a:prstGeom prst="roundRect">
            <a:avLst>
              <a:gd name="adj" fmla="val 6667"/>
            </a:avLst>
          </a:prstGeom>
          <a:solidFill>
            <a:schemeClr val="accent3">
              <a:alpha val="15000"/>
            </a:schemeClr>
          </a:solidFill>
          <a:ln/>
        </p:spPr>
        <p:txBody>
          <a:bodyPr wrap="square" lIns="101600" tIns="127000" rIns="127000" bIns="76200" rtlCol="0" anchor="t"/>
          <a:lstStyle/>
          <a:p>
            <a:pPr indent="0" marL="0">
              <a:spcAft>
                <a:spcPts val="300"/>
              </a:spcAft>
              <a:buNone/>
            </a:pPr>
            <a:r>
              <a:rPr lang="en-US" sz="1300" b="1" dirty="0">
                <a:solidFill>
                  <a:schemeClr val="tx1"/>
                </a:solidFill>
              </a:rPr>
              <a:t>Suspicious (20 to 49)</a:t>
            </a:r>
            <a:endParaRPr lang="en-US" sz="1300" dirty="0"/>
          </a:p>
          <a:p>
            <a:pPr indent="0" marL="0">
              <a:buNone/>
            </a:pPr>
            <a:r>
              <a:rPr lang="en-US" sz="1200" dirty="0">
                <a:solidFill>
                  <a:schemeClr val="tx1"/>
                </a:solidFill>
              </a:rPr>
              <a:t>Verify through the official app or a number you trust</a:t>
            </a:r>
            <a:endParaRPr lang="en-US" sz="1300" dirty="0"/>
          </a:p>
        </p:txBody>
      </p:sp>
      <p:sp>
        <p:nvSpPr>
          <p:cNvPr id="18" name="Outcome phishing"/>
          <p:cNvSpPr/>
          <p:nvPr/>
        </p:nvSpPr>
        <p:spPr>
          <a:xfrm>
            <a:off x="6766560" y="3200400"/>
            <a:ext cx="1783080" cy="1097280"/>
          </a:xfrm>
          <a:prstGeom prst="roundRect">
            <a:avLst>
              <a:gd name="adj" fmla="val 6667"/>
            </a:avLst>
          </a:prstGeom>
          <a:solidFill>
            <a:schemeClr val="accent4">
              <a:alpha val="15000"/>
            </a:schemeClr>
          </a:solidFill>
          <a:ln/>
        </p:spPr>
        <p:txBody>
          <a:bodyPr wrap="square" lIns="101600" tIns="127000" rIns="127000" bIns="76200" rtlCol="0" anchor="t"/>
          <a:lstStyle/>
          <a:p>
            <a:pPr indent="0" marL="0">
              <a:spcAft>
                <a:spcPts val="300"/>
              </a:spcAft>
              <a:buNone/>
            </a:pPr>
            <a:r>
              <a:rPr lang="en-US" sz="1300" b="1" dirty="0">
                <a:solidFill>
                  <a:schemeClr val="tx1"/>
                </a:solidFill>
              </a:rPr>
              <a:t>Likely phishing (50+)</a:t>
            </a:r>
            <a:endParaRPr lang="en-US" sz="1300" dirty="0"/>
          </a:p>
          <a:p>
            <a:pPr indent="0" marL="0">
              <a:buNone/>
            </a:pPr>
            <a:r>
              <a:rPr lang="en-US" sz="1200" dirty="0">
                <a:solidFill>
                  <a:schemeClr val="tx1"/>
                </a:solidFill>
              </a:rPr>
              <a:t>Do not click. Report: 1930, cybercrime.gov.in</a:t>
            </a:r>
            <a:endParaRPr lang="en-US" sz="1300" dirty="0"/>
          </a:p>
        </p:txBody>
      </p:sp>
      <p:sp>
        <p:nvSpPr>
          <p:cNvPr id="19" name="Practice loop"/>
          <p:cNvSpPr/>
          <p:nvPr/>
        </p:nvSpPr>
        <p:spPr>
          <a:xfrm>
            <a:off x="457200" y="3200400"/>
            <a:ext cx="1783080" cy="1097280"/>
          </a:xfrm>
          <a:prstGeom prst="roundRect">
            <a:avLst>
              <a:gd name="adj" fmla="val 6667"/>
            </a:avLst>
          </a:prstGeom>
          <a:solidFill>
            <a:schemeClr val="bg1"/>
          </a:solidFill>
          <a:ln w="15875">
            <a:solidFill>
              <a:schemeClr val="tx2"/>
            </a:solidFill>
            <a:prstDash val="dash"/>
          </a:ln>
        </p:spPr>
        <p:txBody>
          <a:bodyPr wrap="square" lIns="101600" tIns="127000" rIns="127000" bIns="76200" rtlCol="0" anchor="t"/>
          <a:lstStyle/>
          <a:p>
            <a:pPr indent="0" marL="0">
              <a:spcAft>
                <a:spcPts val="300"/>
              </a:spcAft>
              <a:buNone/>
            </a:pPr>
            <a:r>
              <a:rPr lang="en-US" sz="1300" b="1" dirty="0">
                <a:solidFill>
                  <a:schemeClr val="tx1"/>
                </a:solidFill>
              </a:rPr>
              <a:t>Build the habit</a:t>
            </a:r>
            <a:endParaRPr lang="en-US" sz="1300" dirty="0"/>
          </a:p>
          <a:p>
            <a:pPr indent="0" marL="0">
              <a:buNone/>
            </a:pPr>
            <a:r>
              <a:rPr lang="en-US" sz="1200" dirty="0">
                <a:solidFill>
                  <a:schemeClr val="tx1"/>
                </a:solidFill>
              </a:rPr>
              <a:t>Briefing deck and 7-message simulator teach the same checks</a:t>
            </a:r>
            <a:endParaRPr lang="en-US" sz="1300" dirty="0"/>
          </a:p>
        </p:txBody>
      </p:sp>
      <p:sp>
        <p:nvSpPr>
          <p:cNvPr id="20" name="Practice loop arrow"/>
          <p:cNvSpPr/>
          <p:nvPr/>
        </p:nvSpPr>
        <p:spPr>
          <a:xfrm flipV="1">
            <a:off x="1348740" y="2679192"/>
            <a:ext cx="0" cy="521208"/>
          </a:xfrm>
          <a:prstGeom prst="line">
            <a:avLst/>
          </a:prstGeom>
          <a:noFill/>
          <a:ln w="22225">
            <a:solidFill>
              <a:schemeClr val="tx2"/>
            </a:solidFill>
            <a:prstDash val="dash"/>
            <a:tailEnd type="triangle"/>
          </a:ln>
        </p:spPr>
      </p:sp>
      <p:sp>
        <p:nvSpPr>
          <p:cNvPr id="21" name="Privacy note"/>
          <p:cNvSpPr txBox="1"/>
          <p:nvPr/>
        </p:nvSpPr>
        <p:spPr>
          <a:xfrm>
            <a:off x="457200" y="4434840"/>
            <a:ext cx="8229600" cy="274320"/>
          </a:xfrm>
          <a:prstGeom prst="rect">
            <a:avLst/>
          </a:prstGeom>
          <a:noFill/>
          <a:ln/>
        </p:spPr>
        <p:txBody>
          <a:bodyPr wrap="square" lIns="0" tIns="0" rIns="0" bIns="0" rtlCol="0" anchor="ctr"/>
          <a:lstStyle/>
          <a:p>
            <a:pPr indent="0" marL="0">
              <a:buNone/>
            </a:pPr>
            <a:r>
              <a:rPr lang="en-US" sz="1300" i="1" dirty="0">
                <a:solidFill>
                  <a:schemeClr val="tx2"/>
                </a:solidFill>
              </a:rPr>
              <a:t>All checks run in the browser, so nothing you paste leaves the page.</a:t>
            </a:r>
            <a:endParaRPr lang="en-US" sz="13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t"/>
          <a:lstStyle/>
          <a:p>
            <a:pPr algn="l" indent="0" marL="0">
              <a:buNone/>
            </a:pPr>
            <a:r>
              <a:rPr lang="en-US" sz="3600" b="1" dirty="0">
                <a:solidFill>
                  <a:schemeClr val="tx1"/>
                </a:solidFill>
              </a:rPr>
              <a:t>The prototype: CyberGuard web app</a:t>
            </a:r>
            <a:endParaRPr lang="en-US" sz="3600" dirty="0"/>
          </a:p>
        </p:txBody>
      </p:sp>
      <p:sp>
        <p:nvSpPr>
          <p:cNvPr id="3" name="Subtitle"/>
          <p:cNvSpPr txBox="1"/>
          <p:nvPr/>
        </p:nvSpPr>
        <p:spPr>
          <a:xfrm>
            <a:off x="457200" y="868680"/>
            <a:ext cx="8229600" cy="292608"/>
          </a:xfrm>
          <a:prstGeom prst="rect">
            <a:avLst/>
          </a:prstGeom>
          <a:noFill/>
          <a:ln/>
        </p:spPr>
        <p:txBody>
          <a:bodyPr wrap="square" lIns="0" tIns="0" rIns="0" bIns="0" rtlCol="0" anchor="ctr"/>
          <a:lstStyle/>
          <a:p>
            <a:pPr indent="0" marL="0">
              <a:buNone/>
            </a:pPr>
            <a:r>
              <a:rPr lang="en-US" sz="1400" dirty="0">
                <a:solidFill>
                  <a:schemeClr val="tx2"/>
                </a:solidFill>
              </a:rPr>
              <a:t>A working site built with HTML, CSS and JavaScript. It runs fully in the browser.</a:t>
            </a:r>
            <a:endParaRPr lang="en-US" sz="1400" dirty="0"/>
          </a:p>
        </p:txBody>
      </p:sp>
      <p:sp>
        <p:nvSpPr>
          <p:cNvPr id="4" name="Module 1"/>
          <p:cNvSpPr txBox="1"/>
          <p:nvPr/>
        </p:nvSpPr>
        <p:spPr>
          <a:xfrm>
            <a:off x="457200" y="1371600"/>
            <a:ext cx="2697480" cy="82296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Briefing deck</a:t>
            </a:r>
            <a:endParaRPr lang="en-US" sz="1600" dirty="0"/>
          </a:p>
          <a:p>
            <a:pPr indent="0" marL="0">
              <a:buNone/>
            </a:pPr>
            <a:r>
              <a:rPr lang="en-US" sz="1300" dirty="0">
                <a:solidFill>
                  <a:schemeClr val="tx2"/>
                </a:solidFill>
              </a:rPr>
              <a:t>Eight interactive slides on how phishing works</a:t>
            </a:r>
            <a:endParaRPr lang="en-US" sz="1600" dirty="0"/>
          </a:p>
        </p:txBody>
      </p:sp>
      <p:sp>
        <p:nvSpPr>
          <p:cNvPr id="5" name="Module 2"/>
          <p:cNvSpPr txBox="1"/>
          <p:nvPr/>
        </p:nvSpPr>
        <p:spPr>
          <a:xfrm>
            <a:off x="457200" y="2331720"/>
            <a:ext cx="2697480" cy="82296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Threat simulator</a:t>
            </a:r>
            <a:endParaRPr lang="en-US" sz="1600" dirty="0"/>
          </a:p>
          <a:p>
            <a:pPr indent="0" marL="0">
              <a:buNone/>
            </a:pPr>
            <a:r>
              <a:rPr lang="en-US" sz="1300" dirty="0">
                <a:solidFill>
                  <a:schemeClr val="tx2"/>
                </a:solidFill>
              </a:rPr>
              <a:t>Seven fictional messages. Hover links, get instant feedback</a:t>
            </a:r>
            <a:endParaRPr lang="en-US" sz="1600" dirty="0"/>
          </a:p>
        </p:txBody>
      </p:sp>
      <p:sp>
        <p:nvSpPr>
          <p:cNvPr id="6" name="Module 3"/>
          <p:cNvSpPr txBox="1"/>
          <p:nvPr/>
        </p:nvSpPr>
        <p:spPr>
          <a:xfrm>
            <a:off x="457200" y="3291840"/>
            <a:ext cx="2697480" cy="82296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Security analyzer</a:t>
            </a:r>
            <a:endParaRPr lang="en-US" sz="1600" dirty="0"/>
          </a:p>
          <a:p>
            <a:pPr indent="0" marL="0">
              <a:buNone/>
            </a:pPr>
            <a:r>
              <a:rPr lang="en-US" sz="1300" dirty="0">
                <a:solidFill>
                  <a:schemeClr val="tx2"/>
                </a:solidFill>
              </a:rPr>
              <a:t>Risk score from 0 to 100 for any link or message</a:t>
            </a:r>
            <a:endParaRPr lang="en-US" sz="1600" dirty="0"/>
          </a:p>
        </p:txBody>
      </p:sp>
      <p:sp>
        <p:nvSpPr>
          <p:cNvPr id="7" name="Prototype note"/>
          <p:cNvSpPr txBox="1"/>
          <p:nvPr/>
        </p:nvSpPr>
        <p:spPr>
          <a:xfrm>
            <a:off x="457200" y="4224528"/>
            <a:ext cx="2697480" cy="502920"/>
          </a:xfrm>
          <a:prstGeom prst="rect">
            <a:avLst/>
          </a:prstGeom>
          <a:noFill/>
          <a:ln/>
        </p:spPr>
        <p:txBody>
          <a:bodyPr wrap="square" lIns="0" tIns="0" rIns="0" bIns="0" rtlCol="0" anchor="t"/>
          <a:lstStyle/>
          <a:p>
            <a:pPr indent="0" marL="0">
              <a:buNone/>
            </a:pPr>
            <a:r>
              <a:rPr lang="en-US" sz="1200" i="1" dirty="0">
                <a:solidFill>
                  <a:schemeClr val="tx2"/>
                </a:solidFill>
              </a:rPr>
              <a:t>Light and dark themes, phone-friendly layout, no data leaves the page.</a:t>
            </a:r>
            <a:endParaRPr lang="en-US" sz="1200" dirty="0"/>
          </a:p>
        </p:txBody>
      </p:sp>
      <p:sp>
        <p:nvSpPr>
          <p:cNvPr id="8" name="Simulator screenshot frame"/>
          <p:cNvSpPr/>
          <p:nvPr/>
        </p:nvSpPr>
        <p:spPr>
          <a:xfrm>
            <a:off x="3392424" y="1335024"/>
            <a:ext cx="2587752" cy="3031505"/>
          </a:xfrm>
          <a:prstGeom prst="rect">
            <a:avLst/>
          </a:prstGeom>
          <a:solidFill>
            <a:schemeClr val="bg1"/>
          </a:solidFill>
          <a:ln w="9525">
            <a:solidFill>
              <a:schemeClr val="tx2">
                <a:alpha val="45000"/>
              </a:schemeClr>
            </a:solidFill>
            <a:prstDash val="solid"/>
          </a:ln>
          <a:effectLst>
            <a:outerShdw sx="100000" sy="100000" kx="0" ky="0" algn="bl" rotWithShape="0" blurRad="76200" dist="25400" dir="5400000">
              <a:srgbClr val="000000">
                <a:alpha val="18000"/>
              </a:srgbClr>
            </a:outerShdw>
          </a:effectLst>
        </p:spPr>
      </p:sp>
      <p:pic>
        <p:nvPicPr>
          <p:cNvPr id="9" name="Simulator screenshot" descr="Simulator screenshot of the CyberGuard website">    </p:cNvPr>
          <p:cNvPicPr>
            <a:picLocks noChangeAspect="1"/>
          </p:cNvPicPr>
          <p:nvPr/>
        </p:nvPicPr>
        <p:blipFill>
          <a:blip r:embed="rId1"/>
          <a:stretch>
            <a:fillRect/>
          </a:stretch>
        </p:blipFill>
        <p:spPr>
          <a:xfrm>
            <a:off x="3429000" y="1371600"/>
            <a:ext cx="2514600" cy="2958353"/>
          </a:xfrm>
          <a:prstGeom prst="rect">
            <a:avLst/>
          </a:prstGeom>
        </p:spPr>
      </p:pic>
      <p:sp>
        <p:nvSpPr>
          <p:cNvPr id="10" name="Simulator screenshot caption"/>
          <p:cNvSpPr txBox="1"/>
          <p:nvPr/>
        </p:nvSpPr>
        <p:spPr>
          <a:xfrm>
            <a:off x="3429000" y="4407408"/>
            <a:ext cx="2514600" cy="384048"/>
          </a:xfrm>
          <a:prstGeom prst="rect">
            <a:avLst/>
          </a:prstGeom>
          <a:noFill/>
          <a:ln/>
        </p:spPr>
        <p:txBody>
          <a:bodyPr wrap="square" lIns="0" tIns="0" rIns="0" bIns="0" rtlCol="0" anchor="t"/>
          <a:lstStyle/>
          <a:p>
            <a:pPr indent="0" marL="0">
              <a:buNone/>
            </a:pPr>
            <a:r>
              <a:rPr lang="en-US" sz="1100" dirty="0">
                <a:solidFill>
                  <a:schemeClr val="tx2"/>
                </a:solidFill>
              </a:rPr>
              <a:t>Simulator: red flags and real link shown after each answer</a:t>
            </a:r>
            <a:endParaRPr lang="en-US" sz="1100" dirty="0"/>
          </a:p>
        </p:txBody>
      </p:sp>
      <p:sp>
        <p:nvSpPr>
          <p:cNvPr id="11" name="Analyzer screenshot frame"/>
          <p:cNvSpPr/>
          <p:nvPr/>
        </p:nvSpPr>
        <p:spPr>
          <a:xfrm>
            <a:off x="6135624" y="1335024"/>
            <a:ext cx="2587752" cy="3031505"/>
          </a:xfrm>
          <a:prstGeom prst="rect">
            <a:avLst/>
          </a:prstGeom>
          <a:solidFill>
            <a:schemeClr val="bg1"/>
          </a:solidFill>
          <a:ln w="9525">
            <a:solidFill>
              <a:schemeClr val="tx2">
                <a:alpha val="45000"/>
              </a:schemeClr>
            </a:solidFill>
            <a:prstDash val="solid"/>
          </a:ln>
          <a:effectLst>
            <a:outerShdw sx="100000" sy="100000" kx="0" ky="0" algn="bl" rotWithShape="0" blurRad="76200" dist="25400" dir="5400000">
              <a:srgbClr val="000000">
                <a:alpha val="18000"/>
              </a:srgbClr>
            </a:outerShdw>
          </a:effectLst>
        </p:spPr>
      </p:sp>
      <p:pic>
        <p:nvPicPr>
          <p:cNvPr id="12" name="Analyzer screenshot" descr="Analyzer screenshot of the CyberGuard website">    </p:cNvPr>
          <p:cNvPicPr>
            <a:picLocks noChangeAspect="1"/>
          </p:cNvPicPr>
          <p:nvPr/>
        </p:nvPicPr>
        <p:blipFill>
          <a:blip r:embed="rId2"/>
          <a:stretch>
            <a:fillRect/>
          </a:stretch>
        </p:blipFill>
        <p:spPr>
          <a:xfrm>
            <a:off x="6172200" y="1371600"/>
            <a:ext cx="2514600" cy="2958353"/>
          </a:xfrm>
          <a:prstGeom prst="rect">
            <a:avLst/>
          </a:prstGeom>
        </p:spPr>
      </p:pic>
      <p:sp>
        <p:nvSpPr>
          <p:cNvPr id="13" name="Analyzer screenshot caption"/>
          <p:cNvSpPr txBox="1"/>
          <p:nvPr/>
        </p:nvSpPr>
        <p:spPr>
          <a:xfrm>
            <a:off x="6172200" y="4407408"/>
            <a:ext cx="2514600" cy="384048"/>
          </a:xfrm>
          <a:prstGeom prst="rect">
            <a:avLst/>
          </a:prstGeom>
          <a:noFill/>
          <a:ln/>
        </p:spPr>
        <p:txBody>
          <a:bodyPr wrap="square" lIns="0" tIns="0" rIns="0" bIns="0" rtlCol="0" anchor="t"/>
          <a:lstStyle/>
          <a:p>
            <a:pPr indent="0" marL="0">
              <a:buNone/>
            </a:pPr>
            <a:r>
              <a:rPr lang="en-US" sz="1100" dirty="0">
                <a:solidFill>
                  <a:schemeClr val="tx2"/>
                </a:solidFill>
              </a:rPr>
              <a:t>Analyzer: 65 out of 100, likely phishing, with reasons</a:t>
            </a:r>
            <a:endParaRPr lang="en-US" sz="11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theme/theme1.xml><?xml version="1.0" encoding="utf-8"?>
<a:theme xmlns:a="http://schemas.openxmlformats.org/drawingml/2006/main" name="CyberGuard">
  <a:themeElements>
    <a:clrScheme name="CyberGuard">
      <a:dk1>
        <a:srgbClr val="0F1B2D"/>
      </a:dk1>
      <a:lt1>
        <a:srgbClr val="FFFFFF"/>
      </a:lt1>
      <a:dk2>
        <a:srgbClr val="4B5B72"/>
      </a:dk2>
      <a:lt2>
        <a:srgbClr val="EDF1F6"/>
      </a:lt2>
      <a:accent1>
        <a:srgbClr val="D9480F"/>
      </a:accent1>
      <a:accent2>
        <a:srgbClr val="1B7F4B"/>
      </a:accent2>
      <a:accent3>
        <a:srgbClr val="9A6200"/>
      </a:accent3>
      <a:accent4>
        <a:srgbClr val="B42318"/>
      </a:accent4>
      <a:accent5>
        <a:srgbClr val="FF8A5B"/>
      </a:accent5>
      <a:accent6>
        <a:srgbClr val="1D4ED8"/>
      </a:accent6>
      <a:hlink>
        <a:srgbClr val="1D4ED8"/>
      </a:hlink>
      <a:folHlink>
        <a:srgbClr val="4B5B72"/>
      </a:folHlink>
    </a:clrScheme>
    <a:fontScheme name="CyberGuar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CyberGuard: Protecting users from online threats</dc:title>
  <dc:subject>PptxGenJS Presentation</dc:subject>
  <dc:creator>Mahalakshmi S.</dc:creator>
  <cp:lastModifiedBy>Mahalakshmi S.</cp:lastModifiedBy>
  <cp:revision>1</cp:revision>
  <dcterms:created xsi:type="dcterms:W3CDTF">2026-10-09T08:50:16Z</dcterms:created>
  <dcterms:modified xsi:type="dcterms:W3CDTF">2026-10-09T08:50:16Z</dcterms:modified>
</cp:coreProperties>
</file>